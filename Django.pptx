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78" r:id="rId4"/>
    <p:sldId id="262" r:id="rId5"/>
    <p:sldId id="266" r:id="rId6"/>
    <p:sldId id="260" r:id="rId7"/>
    <p:sldId id="259" r:id="rId8"/>
    <p:sldId id="264" r:id="rId9"/>
    <p:sldId id="265" r:id="rId10"/>
    <p:sldId id="263" r:id="rId11"/>
    <p:sldId id="279" r:id="rId12"/>
    <p:sldId id="276" r:id="rId13"/>
    <p:sldId id="261" r:id="rId14"/>
    <p:sldId id="267" r:id="rId15"/>
    <p:sldId id="273" r:id="rId16"/>
    <p:sldId id="281" r:id="rId17"/>
    <p:sldId id="277" r:id="rId18"/>
    <p:sldId id="269" r:id="rId19"/>
    <p:sldId id="268" r:id="rId20"/>
    <p:sldId id="272" r:id="rId21"/>
    <p:sldId id="270" r:id="rId22"/>
    <p:sldId id="271" r:id="rId23"/>
    <p:sldId id="280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1D96"/>
    <a:srgbClr val="E5EE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880150-AF6E-404C-9238-B0E110D8C06C}" v="185" dt="2025-10-27T14:30:10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5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FA22-EB0C-131A-E4FE-1FA73E24B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AEE001-FEF0-F658-4E1F-57C057815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EB994-1014-82C6-BB3D-CBD9908C3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D84E-52AD-4372-9FC7-C05830712DE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DE657-E197-07A7-24F6-87CCC8B18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A1E07-9B4C-1669-A61B-72628814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DF0E-30B1-4BCA-AD2F-9D4725D42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768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8C0BD-190C-6264-8737-5B024F07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0166E-AB05-452A-294C-AC1A644F8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5367F-4E23-BED1-58E4-8504509A0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D84E-52AD-4372-9FC7-C05830712DE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6DAF5-25EB-C284-BD96-92B6693CB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534A5-0359-6761-2600-7627E479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DF0E-30B1-4BCA-AD2F-9D4725D42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44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683FC-533B-8FBB-B4D6-392676FE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EAFA2-9B30-2833-25AC-E3562FACB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CE0BD-6078-6DB6-9A29-1A9CCEADB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D84E-52AD-4372-9FC7-C05830712DE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6AB5C-4479-F882-65F9-73DE7373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B78B5-18CB-F675-D98C-39689EB3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DF0E-30B1-4BCA-AD2F-9D4725D42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181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9CCCA-06F2-4326-C27B-8A4393C7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E220B-EE83-C54F-3D54-54C3122DE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F62D9-4A3A-0677-D341-6EC16DB0F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2074C-2772-1DAB-6032-B4A1BCB7C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D84E-52AD-4372-9FC7-C05830712DE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920AF-7E46-1CCE-C334-6657ED53F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71754-9A9A-FE2A-3DC3-A61D50991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DF0E-30B1-4BCA-AD2F-9D4725D42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98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2077-D1EC-9DAD-D228-3F0E15F16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A41F6-907E-DD11-95BF-482375CB6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F1B60-CB8B-2D91-B515-2A7942E92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246BF1-42C9-52D9-1CD8-29EABD100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BE91B-758F-A828-640E-D3C6210C7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53814-EF00-081C-B3F6-42ABFFF4A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D84E-52AD-4372-9FC7-C05830712DE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C1C04F-344C-5EDF-3489-46AF7F562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5874E9-CF0C-00DB-8234-4D57FD757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DF0E-30B1-4BCA-AD2F-9D4725D42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625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7347-21E9-65BE-878C-8307D9EC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76587-2E8D-4BAE-5198-312FF1A7C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D84E-52AD-4372-9FC7-C05830712DE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E0A07-5E64-6299-ED9C-EFDFEA79A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06534-80EA-6FD5-E2E2-18FEAA9B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DF0E-30B1-4BCA-AD2F-9D4725D42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265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1D8AC-93AD-6440-C387-58A28A2F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D84E-52AD-4372-9FC7-C05830712DE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FD675-7C14-104F-263C-DEA1A9C3B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2B27C-65DB-16A0-3C7E-BA019FE5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DF0E-30B1-4BCA-AD2F-9D4725D42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39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3427D-50B8-72B3-8A13-1D6BF4FC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C2D19-C650-7575-3CEF-A674ADCBC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DF5E2-74C1-8EE8-9701-1FEEFE527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CD4F2-4C66-7357-1B7F-0092896A8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D84E-52AD-4372-9FC7-C05830712DE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7ED69-94A9-3FCD-C4EB-27BD83CE5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70EEB-9B07-A370-C9B5-4C6F7E05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DF0E-30B1-4BCA-AD2F-9D4725D42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802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8BD62-7E50-B6F7-9568-DA64757DF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54716-822C-361B-E845-3FF110F45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8E2DC-0D85-57B5-E64B-FA711B7F8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61A56-FB4B-7C5D-F7C4-83B8AA33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D84E-52AD-4372-9FC7-C05830712DE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45EF0-FEC4-FF97-751A-F4BCFA2C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1250D-3399-32D8-A956-E929ECD7E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DF0E-30B1-4BCA-AD2F-9D4725D42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62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A6C5A-B0E6-0513-74DD-115BF0095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291DB-7B08-C5D9-D1EC-480AA1977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E1856-4979-88C5-8C99-14D2E985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D84E-52AD-4372-9FC7-C05830712DE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D66A-2CCF-69F0-ADE8-B4BDCD2C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C5476-EDE6-3B2E-6BCD-C2F0058CE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DF0E-30B1-4BCA-AD2F-9D4725D42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055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3E51D-6C94-0B16-F53E-4C1FA1A3F2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2048E-BFF5-02D7-D7D7-C747BB46D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26C57-8189-A4C6-8D38-296248CFD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D84E-52AD-4372-9FC7-C05830712DE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75E28-9685-CC62-5305-5C36B288C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1D732-C051-694E-64AB-0ACA3F6BE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DF0E-30B1-4BCA-AD2F-9D4725D42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177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83B962-D905-2DA3-6ECF-DA3D3F18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121DB-D1C1-95D7-4BA2-3A7222BF9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28E93-8E03-96BD-AEDF-862053449F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8D84E-52AD-4372-9FC7-C05830712DE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CB30C-E6D0-E4AD-4129-596DDC989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A3B81-571B-CB3D-249E-2BCD218B3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AFDF0E-30B1-4BCA-AD2F-9D4725D42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82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BCCACA-38FB-BD60-5A8D-7A98F1CB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9EE0AC-86DE-06BB-BF5F-2BCC0553C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EE2F330-B25F-D0BA-5554-7ED850FA4D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5853" y="589058"/>
            <a:ext cx="10512424" cy="5074623"/>
          </a:xfr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pic>
      <p:pic>
        <p:nvPicPr>
          <p:cNvPr id="14" name="Content Placeholder 13" descr="A logo of a django company&#10;&#10;AI-generated content may be incorrect.">
            <a:extLst>
              <a:ext uri="{FF2B5EF4-FFF2-40B4-BE49-F238E27FC236}">
                <a16:creationId xmlns:a16="http://schemas.microsoft.com/office/drawing/2014/main" id="{DCF3B471-58CB-2F83-8184-4BAD6A826C7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259" y="4637314"/>
            <a:ext cx="949682" cy="1343608"/>
          </a:xfrm>
        </p:spPr>
      </p:pic>
    </p:spTree>
    <p:extLst>
      <p:ext uri="{BB962C8B-B14F-4D97-AF65-F5344CB8AC3E}">
        <p14:creationId xmlns:p14="http://schemas.microsoft.com/office/powerpoint/2010/main" val="21713083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2BA5B3-BF2E-4181-ACC0-5CB07ED65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KRISHNA CHAITHANYA INSTITUTE OF TECHNOLOGY AND SCIENCES</a:t>
            </a:r>
            <a:br>
              <a:rPr lang="en-US" sz="2400" b="1" dirty="0"/>
            </a:br>
            <a:r>
              <a:rPr lang="en-US" sz="2400" b="1" dirty="0"/>
              <a:t>                      </a:t>
            </a:r>
            <a:r>
              <a:rPr lang="en-US" sz="2400" b="1" dirty="0">
                <a:solidFill>
                  <a:schemeClr val="accent2"/>
                </a:solidFill>
              </a:rPr>
              <a:t>(Approved by </a:t>
            </a:r>
            <a:r>
              <a:rPr lang="en-US" sz="2400" b="1" dirty="0" err="1">
                <a:solidFill>
                  <a:schemeClr val="accent2"/>
                </a:solidFill>
              </a:rPr>
              <a:t>AICTE,new</a:t>
            </a:r>
            <a:r>
              <a:rPr lang="en-US" sz="2400" b="1" dirty="0">
                <a:solidFill>
                  <a:schemeClr val="accent2"/>
                </a:solidFill>
              </a:rPr>
              <a:t> Delhi &amp; Affiliated to JNTU Kakinada)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CB4927-EBDA-FF23-F896-69BDFFD43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006725"/>
            <a:ext cx="10512424" cy="3851275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	 	</a:t>
            </a:r>
            <a:r>
              <a:rPr lang="en-US" b="1" dirty="0"/>
              <a:t>       A</a:t>
            </a:r>
          </a:p>
          <a:p>
            <a:pPr marL="0" indent="0">
              <a:buNone/>
            </a:pPr>
            <a:r>
              <a:rPr lang="en-US" dirty="0"/>
              <a:t>		          		</a:t>
            </a:r>
            <a:r>
              <a:rPr lang="en-US" b="1" dirty="0"/>
              <a:t>                  Seminar Report On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sz="4400" dirty="0"/>
              <a:t>                            </a:t>
            </a:r>
            <a:r>
              <a:rPr lang="en-US" sz="7600" b="1" i="1" dirty="0">
                <a:solidFill>
                  <a:srgbClr val="002060"/>
                </a:solidFill>
              </a:rPr>
              <a:t>DJANGO</a:t>
            </a:r>
          </a:p>
          <a:p>
            <a:pPr marL="0" indent="0">
              <a:buNone/>
            </a:pPr>
            <a:r>
              <a:rPr lang="en-US" dirty="0"/>
              <a:t>		                                                                </a:t>
            </a:r>
            <a:r>
              <a:rPr lang="en-US" b="1" dirty="0"/>
              <a:t>Submitted for the </a:t>
            </a:r>
            <a:r>
              <a:rPr lang="en-IN" b="1" dirty="0"/>
              <a:t>partial fulfilment</a:t>
            </a:r>
          </a:p>
          <a:p>
            <a:pPr marL="0" indent="0">
              <a:buNone/>
            </a:pPr>
            <a:r>
              <a:rPr lang="en-IN" dirty="0"/>
              <a:t>				                               </a:t>
            </a:r>
            <a:r>
              <a:rPr lang="en-IN" b="1" dirty="0"/>
              <a:t>Of </a:t>
            </a:r>
          </a:p>
          <a:p>
            <a:pPr marL="0" indent="0">
              <a:buNone/>
            </a:pPr>
            <a:r>
              <a:rPr lang="en-IN" b="1" dirty="0"/>
              <a:t>			</a:t>
            </a:r>
            <a:r>
              <a:rPr lang="en-IN" b="1" dirty="0">
                <a:solidFill>
                  <a:srgbClr val="FF0000"/>
                </a:solidFill>
              </a:rPr>
              <a:t>                                     BACHELOR OF TECHNOLOGY</a:t>
            </a:r>
          </a:p>
          <a:p>
            <a:pPr marL="0" indent="0">
              <a:buNone/>
            </a:pPr>
            <a:r>
              <a:rPr lang="en-IN" b="1" dirty="0"/>
              <a:t>				                              In</a:t>
            </a:r>
          </a:p>
          <a:p>
            <a:pPr marL="0" indent="0">
              <a:buNone/>
            </a:pPr>
            <a:r>
              <a:rPr lang="en-IN" b="1" dirty="0"/>
              <a:t>			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                                Computer Science and Engineering</a:t>
            </a:r>
          </a:p>
          <a:p>
            <a:pPr marL="0" indent="0">
              <a:buNone/>
            </a:pPr>
            <a:r>
              <a:rPr lang="en-IN" b="1" dirty="0"/>
              <a:t>				                             By</a:t>
            </a:r>
          </a:p>
          <a:p>
            <a:pPr marL="914400" lvl="2" indent="0">
              <a:buNone/>
            </a:pPr>
            <a:r>
              <a:rPr lang="en-US" b="1" dirty="0"/>
              <a:t>			                 22JU1A0540      JAYA SREE BANDA</a:t>
            </a:r>
          </a:p>
          <a:p>
            <a:pPr marL="914400" lvl="2" indent="0">
              <a:buNone/>
            </a:pPr>
            <a:r>
              <a:rPr lang="en-US" b="1" dirty="0"/>
              <a:t>			                22JU1A0507       ANJALI DEVI KOPPULA</a:t>
            </a:r>
          </a:p>
          <a:p>
            <a:pPr marL="914400" lvl="2" indent="0">
              <a:buNone/>
            </a:pPr>
            <a:r>
              <a:rPr lang="en-US" b="1" dirty="0"/>
              <a:t>			                22JU1A0505       ANITHA KASU</a:t>
            </a:r>
          </a:p>
          <a:p>
            <a:pPr marL="914400" lvl="2" indent="0">
              <a:buNone/>
            </a:pPr>
            <a:r>
              <a:rPr lang="en-US" b="1" dirty="0"/>
              <a:t>			                22JU1A0560      MAMATHA OBURAI</a:t>
            </a:r>
          </a:p>
          <a:p>
            <a:pPr marL="914400" lvl="2" indent="0">
              <a:buNone/>
            </a:pPr>
            <a:endParaRPr lang="en-US" b="1" dirty="0"/>
          </a:p>
          <a:p>
            <a:pPr marL="914400" lvl="2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				            Under the Guidance of</a:t>
            </a:r>
          </a:p>
          <a:p>
            <a:pPr marL="0" indent="0">
              <a:buNone/>
            </a:pPr>
            <a:r>
              <a:rPr lang="en-US" b="1" dirty="0"/>
              <a:t>				              </a:t>
            </a:r>
            <a:r>
              <a:rPr lang="en-US" b="1" i="1" dirty="0" err="1">
                <a:solidFill>
                  <a:schemeClr val="accent5"/>
                </a:solidFill>
              </a:rPr>
              <a:t>Mr.Dr.J.V.ANIL</a:t>
            </a:r>
            <a:r>
              <a:rPr lang="en-US" b="1" i="1" dirty="0">
                <a:solidFill>
                  <a:schemeClr val="accent5"/>
                </a:solidFill>
              </a:rPr>
              <a:t> KUMAR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Content Placeholder 7" descr="A logo with a picture of a tower&#10;&#10;AI-generated content may be incorrect.">
            <a:extLst>
              <a:ext uri="{FF2B5EF4-FFF2-40B4-BE49-F238E27FC236}">
                <a16:creationId xmlns:a16="http://schemas.microsoft.com/office/drawing/2014/main" id="{F471567F-AB75-DEF9-39FA-34B788D5228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927" y="1621632"/>
            <a:ext cx="952500" cy="952500"/>
          </a:xfrm>
        </p:spPr>
      </p:pic>
    </p:spTree>
    <p:extLst>
      <p:ext uri="{BB962C8B-B14F-4D97-AF65-F5344CB8AC3E}">
        <p14:creationId xmlns:p14="http://schemas.microsoft.com/office/powerpoint/2010/main" val="376596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1FE66F-5C1A-8E3C-95A6-577A771BE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TABLE OF CONTENT</a:t>
            </a:r>
            <a:endParaRPr lang="en-IN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2D4F6E4-693B-33C2-C81E-03830C5F7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What is “Django”?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Why is “Django”?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History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Introduction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MVT and MVT Patterns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Django MVT Architecture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Work Flow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 err="1"/>
              <a:t>Installtion</a:t>
            </a:r>
            <a:r>
              <a:rPr lang="en-US" sz="8000" b="1" dirty="0"/>
              <a:t> of Django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Simple Project Directory Structure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Key Features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TODO Web Application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Todo Project directory Structure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Work Flow Of TODO Application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Pros-Cons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Job Roles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Carrer path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Salaries and packages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Django Developer  hiring Growth rate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Hiring Companies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Reference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Conclusion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8000" b="1" dirty="0"/>
              <a:t>Thank  You…!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0159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8ECB-CA96-EB80-E98E-4CB5CC065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Does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“Django” </a:t>
            </a:r>
            <a:r>
              <a:rPr lang="en-US" b="1" dirty="0"/>
              <a:t>means?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42647-A424-04BF-05A5-1FB4F7D2C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Django is named after Django </a:t>
            </a:r>
            <a:r>
              <a:rPr lang="en-US" dirty="0" err="1"/>
              <a:t>Reinhardt,A</a:t>
            </a:r>
            <a:r>
              <a:rPr lang="en-US" dirty="0"/>
              <a:t> jazz manouche guitarist from the 19930s to early 1950s.To this </a:t>
            </a:r>
            <a:r>
              <a:rPr lang="en-US" dirty="0" err="1"/>
              <a:t>day,he’s</a:t>
            </a:r>
            <a:r>
              <a:rPr lang="en-US" dirty="0"/>
              <a:t> considered one of the best guitarist of all time</a:t>
            </a:r>
          </a:p>
          <a:p>
            <a:r>
              <a:rPr lang="en-US" dirty="0"/>
              <a:t>Django is </a:t>
            </a:r>
            <a:r>
              <a:rPr lang="en-US" dirty="0">
                <a:solidFill>
                  <a:srgbClr val="C00000"/>
                </a:solidFill>
              </a:rPr>
              <a:t>Pronuounced as JANG-oh </a:t>
            </a:r>
            <a:r>
              <a:rPr lang="en-US" dirty="0"/>
              <a:t>,Rhymes with FANG-oh , The “D” is silent</a:t>
            </a:r>
          </a:p>
          <a:p>
            <a:r>
              <a:rPr lang="en-US" dirty="0"/>
              <a:t>It was released publicly in 2008,Official  </a:t>
            </a:r>
            <a:r>
              <a:rPr lang="en-US" dirty="0" err="1"/>
              <a:t>website:https</a:t>
            </a:r>
            <a:r>
              <a:rPr lang="en-US" dirty="0"/>
              <a:t>://www.djangoproject.com/</a:t>
            </a:r>
          </a:p>
          <a:p>
            <a:r>
              <a:rPr lang="en-US" dirty="0"/>
              <a:t>Django now run by international team of volunteers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00390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675A9-76D2-3F16-2D5F-8D32AB1F4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0062"/>
            <a:ext cx="11353800" cy="1325563"/>
          </a:xfrm>
        </p:spPr>
        <p:txBody>
          <a:bodyPr/>
          <a:lstStyle/>
          <a:p>
            <a:r>
              <a:rPr lang="en-US" dirty="0"/>
              <a:t>                                   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Why  “Django”?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2A92C-B384-D554-1FD2-C11330C0F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Django provides every thing built in </a:t>
            </a:r>
            <a:r>
              <a:rPr lang="en-US" b="1" dirty="0"/>
              <a:t>database </a:t>
            </a:r>
            <a:r>
              <a:rPr lang="en-US" b="1" dirty="0" err="1"/>
              <a:t>connection,authentication,adminpannel,ORM,routing,security</a:t>
            </a:r>
            <a:r>
              <a:rPr lang="en-US" b="1" dirty="0"/>
              <a:t> etc..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follows </a:t>
            </a:r>
            <a:r>
              <a:rPr lang="en-US" u="sng" dirty="0"/>
              <a:t>MVT pattern </a:t>
            </a:r>
            <a:r>
              <a:rPr lang="en-US" dirty="0"/>
              <a:t>which </a:t>
            </a:r>
            <a:r>
              <a:rPr lang="en-US" dirty="0" err="1"/>
              <a:t>seperates</a:t>
            </a:r>
            <a:r>
              <a:rPr lang="en-US" dirty="0"/>
              <a:t> </a:t>
            </a:r>
            <a:r>
              <a:rPr lang="en-US" u="sng" dirty="0" err="1"/>
              <a:t>logic,data</a:t>
            </a:r>
            <a:r>
              <a:rPr lang="en-US" u="sng" dirty="0"/>
              <a:t> and design.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automatically generates an admin dashboard for user database model.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has built In protection against common attacks like SQL injection ,XSS,CSRF.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04806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E2FF6-1B52-95E3-C069-3E51250CD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BC903-CD30-9F32-E3FE-B3F3A2D05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871"/>
            <a:ext cx="10515600" cy="531300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Django was developed in the year 2003 by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Adrian</a:t>
            </a:r>
            <a:r>
              <a:rPr lang="en-US" dirty="0"/>
              <a:t> and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Simon</a:t>
            </a:r>
            <a:r>
              <a:rPr lang="en-US" dirty="0" err="1"/>
              <a:t>,two</a:t>
            </a:r>
            <a:r>
              <a:rPr lang="en-US" dirty="0"/>
              <a:t> web developers who worked at a news company called Lawrence-Journal-World in </a:t>
            </a:r>
            <a:r>
              <a:rPr lang="en-US" dirty="0" err="1"/>
              <a:t>Kansas,USA</a:t>
            </a:r>
            <a:endParaRPr lang="en-US" dirty="0"/>
          </a:p>
          <a:p>
            <a:r>
              <a:rPr lang="en-US" dirty="0"/>
              <a:t>They noticed that they were repeating the same co websites(like managing </a:t>
            </a:r>
            <a:r>
              <a:rPr lang="en-US" dirty="0" err="1"/>
              <a:t>articles,users</a:t>
            </a:r>
            <a:r>
              <a:rPr lang="en-US" dirty="0"/>
              <a:t> and comments)</a:t>
            </a:r>
          </a:p>
          <a:p>
            <a:r>
              <a:rPr lang="en-US" dirty="0"/>
              <a:t>To save </a:t>
            </a:r>
            <a:r>
              <a:rPr lang="en-US" dirty="0" err="1"/>
              <a:t>time,they</a:t>
            </a:r>
            <a:r>
              <a:rPr lang="en-US" dirty="0"/>
              <a:t> created a </a:t>
            </a:r>
            <a:r>
              <a:rPr lang="en-US" dirty="0" err="1"/>
              <a:t>Resual</a:t>
            </a:r>
            <a:r>
              <a:rPr lang="en-US" dirty="0"/>
              <a:t> web framework that handled common web development tasks automatically</a:t>
            </a:r>
          </a:p>
          <a:p>
            <a:r>
              <a:rPr lang="en-US" dirty="0"/>
              <a:t>This internal Framework was the F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5070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0F3F-8A58-1DD3-7F8E-630CCC7E4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424" y="30416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INTRODUCTION</a:t>
            </a:r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9938E-8EC5-628D-55C7-3A4FE7058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Django is a high-level </a:t>
            </a:r>
            <a:r>
              <a:rPr lang="en-IN" b="1" dirty="0">
                <a:solidFill>
                  <a:srgbClr val="C00000"/>
                </a:solidFill>
              </a:rPr>
              <a:t>Python web framework </a:t>
            </a:r>
            <a:r>
              <a:rPr lang="en-IN" dirty="0"/>
              <a:t>used for building web </a:t>
            </a:r>
            <a:r>
              <a:rPr lang="en-IN" dirty="0" err="1"/>
              <a:t>apllications</a:t>
            </a:r>
            <a:r>
              <a:rPr lang="en-IN" dirty="0"/>
              <a:t> quickly and efficiently</a:t>
            </a:r>
          </a:p>
          <a:p>
            <a:r>
              <a:rPr lang="en-IN" dirty="0"/>
              <a:t>It is an open-</a:t>
            </a:r>
            <a:r>
              <a:rPr lang="en-IN" dirty="0" err="1"/>
              <a:t>source,comes</a:t>
            </a:r>
            <a:r>
              <a:rPr lang="en-IN" dirty="0"/>
              <a:t> with many ready-made features like: </a:t>
            </a:r>
            <a:r>
              <a:rPr lang="en-IN" b="1" dirty="0"/>
              <a:t>Admin-</a:t>
            </a:r>
            <a:r>
              <a:rPr lang="en-IN" b="1" dirty="0" err="1"/>
              <a:t>panel,Log</a:t>
            </a:r>
            <a:r>
              <a:rPr lang="en-IN" b="1" dirty="0"/>
              <a:t>-in and user system for </a:t>
            </a:r>
            <a:r>
              <a:rPr lang="en-IN" b="1" dirty="0" err="1"/>
              <a:t>Authentiction,ORM</a:t>
            </a:r>
            <a:r>
              <a:rPr lang="en-IN" b="1" dirty="0"/>
              <a:t>.</a:t>
            </a:r>
          </a:p>
          <a:p>
            <a:r>
              <a:rPr lang="en-IN" dirty="0"/>
              <a:t>Django allows you to create ,</a:t>
            </a:r>
            <a:r>
              <a:rPr lang="en-IN" dirty="0" err="1"/>
              <a:t>read,update</a:t>
            </a:r>
            <a:r>
              <a:rPr lang="en-IN" dirty="0"/>
              <a:t> and delete data easily using its inbuilt Tools</a:t>
            </a:r>
          </a:p>
          <a:p>
            <a:r>
              <a:rPr lang="en-IN" dirty="0"/>
              <a:t>It help developers create websites faster without needing to write everything from scratch</a:t>
            </a:r>
          </a:p>
          <a:p>
            <a:r>
              <a:rPr lang="en-IN" dirty="0"/>
              <a:t>It follows the </a:t>
            </a:r>
            <a:r>
              <a:rPr lang="en-IN" b="1" dirty="0"/>
              <a:t>Model-View-Template(MVT) architecture </a:t>
            </a:r>
            <a:r>
              <a:rPr lang="en-IN" dirty="0"/>
              <a:t>for clean and organized development</a:t>
            </a:r>
          </a:p>
          <a:p>
            <a:r>
              <a:rPr lang="en-IN" dirty="0"/>
              <a:t>It was created </a:t>
            </a:r>
            <a:r>
              <a:rPr lang="en-IN" b="1" dirty="0"/>
              <a:t>by ADRIAN HOLOVALTY &amp; SIMON WILLISON in 2005</a:t>
            </a:r>
          </a:p>
          <a:p>
            <a:r>
              <a:rPr lang="en-IN" dirty="0"/>
              <a:t>It is known as the “</a:t>
            </a:r>
            <a:r>
              <a:rPr lang="en-IN" b="1" i="1" dirty="0">
                <a:solidFill>
                  <a:srgbClr val="00B050"/>
                </a:solidFill>
              </a:rPr>
              <a:t>Framework for perfectionist with deadlines” because it saves a lot of time”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2659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933108-169D-3314-306D-F77E98946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MCT and MVT Patterns</a:t>
            </a:r>
            <a:endParaRPr lang="en-IN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3A49C-664A-67F2-9BA8-D1CCA986F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MCT(Model controller template)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11435-6CB9-2FDA-8864-8AB9C9E03F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web application design architecture used mainly in framework like Flack.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 into three main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componets-model,controller,template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MODEL:Handles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and database operations.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CONTROLLER:Handles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request,interacts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model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to the template.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TEMPLATE:Displays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to the user(HTML web page).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6F311C-BA99-1FA4-BBB3-BE3F35899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MVT(Model view template)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3E345B-CA24-0BF9-CEFF-02701D0F060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It is used in Django framework.</a:t>
            </a:r>
          </a:p>
          <a:p>
            <a:r>
              <a:rPr lang="en-US" dirty="0"/>
              <a:t>It is similar to the MVC patter, but in Django the framework itself acts as a controller so </a:t>
            </a:r>
            <a:r>
              <a:rPr lang="en-US" dirty="0" err="1"/>
              <a:t>deloveper</a:t>
            </a:r>
            <a:r>
              <a:rPr lang="en-US" dirty="0"/>
              <a:t> mainly handle </a:t>
            </a:r>
            <a:r>
              <a:rPr lang="en-US" dirty="0" err="1"/>
              <a:t>model,view</a:t>
            </a:r>
            <a:r>
              <a:rPr lang="en-US" dirty="0"/>
              <a:t> and template.</a:t>
            </a:r>
          </a:p>
          <a:p>
            <a:r>
              <a:rPr lang="en-US" dirty="0"/>
              <a:t>MODEL: Manage databases and data structure.</a:t>
            </a:r>
          </a:p>
          <a:p>
            <a:r>
              <a:rPr lang="en-US" dirty="0" err="1"/>
              <a:t>VIEW:Contains</a:t>
            </a:r>
            <a:r>
              <a:rPr lang="en-US" dirty="0"/>
              <a:t> business logic of the application </a:t>
            </a:r>
            <a:r>
              <a:rPr lang="en-US" dirty="0" err="1"/>
              <a:t>retrives</a:t>
            </a:r>
            <a:r>
              <a:rPr lang="en-US" dirty="0"/>
              <a:t> data from the model and pass to template.</a:t>
            </a:r>
          </a:p>
          <a:p>
            <a:r>
              <a:rPr lang="en-US" dirty="0" err="1"/>
              <a:t>TEMPLATE:Displays</a:t>
            </a:r>
            <a:r>
              <a:rPr lang="en-US" dirty="0"/>
              <a:t> data received from view.</a:t>
            </a:r>
          </a:p>
        </p:txBody>
      </p:sp>
    </p:spTree>
    <p:extLst>
      <p:ext uri="{BB962C8B-B14F-4D97-AF65-F5344CB8AC3E}">
        <p14:creationId xmlns:p14="http://schemas.microsoft.com/office/powerpoint/2010/main" val="1396744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250A2-6A2C-E584-7C76-BB6B2CE8D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EXAMPLE DIFFERENCE BETWEEN MVT AND MCT</a:t>
            </a:r>
            <a:endParaRPr lang="en-IN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6BDAA-46E6-5253-8BCA-582D28FA0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MVT</a:t>
            </a:r>
            <a:endParaRPr lang="en-IN" sz="4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3B7DC-1A35-D678-EA6C-67DE9B8CA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439092" cy="3684588"/>
          </a:xfrm>
        </p:spPr>
        <p:txBody>
          <a:bodyPr/>
          <a:lstStyle/>
          <a:p>
            <a:r>
              <a:rPr lang="en-IN" dirty="0"/>
              <a:t># views. Py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 from Django. Shortcuts import rendered home(request): </a:t>
            </a:r>
            <a:r>
              <a:rPr lang="en-IN" b="1" dirty="0"/>
              <a:t># View    </a:t>
            </a:r>
            <a:r>
              <a:rPr lang="en-IN" b="1" dirty="0">
                <a:solidFill>
                  <a:srgbClr val="C00000"/>
                </a:solidFill>
              </a:rPr>
              <a:t>name = "Jayasree"    return render(request, 'home.html', {'name': name})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95CCD5-40DF-A101-C61E-93051E7AE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610043"/>
            <a:ext cx="6271658" cy="823912"/>
          </a:xfrm>
        </p:spPr>
        <p:txBody>
          <a:bodyPr/>
          <a:lstStyle/>
          <a:p>
            <a:r>
              <a:rPr lang="en-US" dirty="0"/>
              <a:t>        </a:t>
            </a:r>
            <a:r>
              <a:rPr lang="en-US" sz="4000" dirty="0"/>
              <a:t>MCT</a:t>
            </a:r>
            <a:endParaRPr lang="en-IN" sz="4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E1DE5F-2214-5E6E-F18D-A7DF7464C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6495288" cy="3684588"/>
          </a:xfrm>
        </p:spPr>
        <p:txBody>
          <a:bodyPr/>
          <a:lstStyle/>
          <a:p>
            <a:r>
              <a:rPr lang="en-IN" dirty="0"/>
              <a:t># app.py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from flask import Flask, render _ template app = Flask(_name_)@app.route('/')def home():                 </a:t>
            </a:r>
            <a:r>
              <a:rPr lang="en-IN" b="1" dirty="0"/>
              <a:t># Controller   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name = "Jayasree"    return render _ template('home.html', name=name)  </a:t>
            </a:r>
          </a:p>
          <a:p>
            <a:pPr marL="0" indent="0">
              <a:buNone/>
            </a:pPr>
            <a:r>
              <a:rPr lang="en-IN" b="1" dirty="0"/>
              <a:t># Template</a:t>
            </a:r>
          </a:p>
        </p:txBody>
      </p:sp>
    </p:spTree>
    <p:extLst>
      <p:ext uri="{BB962C8B-B14F-4D97-AF65-F5344CB8AC3E}">
        <p14:creationId xmlns:p14="http://schemas.microsoft.com/office/powerpoint/2010/main" val="30932664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E38EE-13DF-C07F-E6DB-A21CCAEA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Content Placeholder 8" descr="A diagram of a computer architecture&#10;&#10;AI-generated content may be incorrect.">
            <a:extLst>
              <a:ext uri="{FF2B5EF4-FFF2-40B4-BE49-F238E27FC236}">
                <a16:creationId xmlns:a16="http://schemas.microsoft.com/office/drawing/2014/main" id="{B2005ACC-3BA3-3AE4-1D0C-523A967C6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819"/>
            <a:ext cx="12044516" cy="7737987"/>
          </a:xfrm>
        </p:spPr>
      </p:pic>
    </p:spTree>
    <p:extLst>
      <p:ext uri="{BB962C8B-B14F-4D97-AF65-F5344CB8AC3E}">
        <p14:creationId xmlns:p14="http://schemas.microsoft.com/office/powerpoint/2010/main" val="26888615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1C6B3-07E1-5E98-8470-DEDB1042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                               WORKFLOW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84669-90E1-C4D1-C9E5-17A60F804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46455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USER REQUEST URL (pattern): </a:t>
            </a:r>
            <a:r>
              <a:rPr lang="en-US" sz="3600" b="1" dirty="0">
                <a:solidFill>
                  <a:srgbClr val="FF0000"/>
                </a:solidFill>
              </a:rPr>
              <a:t>http//localhost:8000/admin</a:t>
            </a:r>
          </a:p>
          <a:p>
            <a:pPr marL="0" indent="0">
              <a:buNone/>
            </a:pPr>
            <a:r>
              <a:rPr lang="en-IN" sz="3600" b="1" dirty="0"/>
              <a:t>    |               |                   |               |</a:t>
            </a:r>
          </a:p>
          <a:p>
            <a:pPr marL="0" indent="0">
              <a:buNone/>
            </a:pPr>
            <a:r>
              <a:rPr lang="en-IN" sz="1400" b="1" dirty="0"/>
              <a:t>          </a:t>
            </a:r>
            <a:r>
              <a:rPr lang="en-IN" sz="1600" b="1" dirty="0"/>
              <a:t>V                                   </a:t>
            </a:r>
            <a:r>
              <a:rPr lang="en-IN" sz="2000" b="1" dirty="0" err="1"/>
              <a:t>v</a:t>
            </a:r>
            <a:r>
              <a:rPr lang="en-IN" sz="1600" b="1" dirty="0"/>
              <a:t>                                           </a:t>
            </a:r>
            <a:r>
              <a:rPr lang="en-IN" sz="2000" b="1" dirty="0" err="1"/>
              <a:t>v</a:t>
            </a:r>
            <a:r>
              <a:rPr lang="en-IN" sz="2000" b="1" dirty="0"/>
              <a:t>                           </a:t>
            </a:r>
            <a:r>
              <a:rPr lang="en-IN" sz="2000" b="1" dirty="0" err="1"/>
              <a:t>v</a:t>
            </a: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     protocol          Domain             port number         view(route)</a:t>
            </a:r>
          </a:p>
          <a:p>
            <a:pPr marL="0" indent="0">
              <a:buNone/>
            </a:pPr>
            <a:r>
              <a:rPr lang="en-IN" sz="2000" b="1" dirty="0"/>
              <a:t>PROTOCOL</a:t>
            </a:r>
            <a:r>
              <a:rPr lang="en-IN" sz="2000" dirty="0"/>
              <a:t>: It defines how data is </a:t>
            </a:r>
            <a:r>
              <a:rPr lang="en-IN" sz="2000" dirty="0" err="1"/>
              <a:t>trasfered</a:t>
            </a:r>
            <a:r>
              <a:rPr lang="en-IN" sz="2000" dirty="0"/>
              <a:t> between browser and server.</a:t>
            </a:r>
          </a:p>
          <a:p>
            <a:pPr marL="0" indent="0">
              <a:buNone/>
            </a:pPr>
            <a:r>
              <a:rPr lang="en-IN" sz="2000" b="1" dirty="0"/>
              <a:t>DOMAIN</a:t>
            </a:r>
            <a:r>
              <a:rPr lang="en-IN" sz="2000" dirty="0"/>
              <a:t>: The Adress of the server where your website is </a:t>
            </a:r>
            <a:r>
              <a:rPr lang="en-IN" sz="2000" dirty="0" err="1"/>
              <a:t>hostsed</a:t>
            </a:r>
            <a:r>
              <a:rPr lang="en-IN" sz="2000" dirty="0"/>
              <a:t>.</a:t>
            </a:r>
          </a:p>
          <a:p>
            <a:pPr marL="0" indent="0">
              <a:buNone/>
            </a:pPr>
            <a:r>
              <a:rPr lang="en-IN" sz="2000" b="1" dirty="0"/>
              <a:t>PORTNUMBER</a:t>
            </a:r>
            <a:r>
              <a:rPr lang="en-IN" sz="2000" dirty="0"/>
              <a:t>: A door number that tells which application or service to talk on to the server.</a:t>
            </a:r>
          </a:p>
          <a:p>
            <a:pPr marL="0" indent="0">
              <a:buNone/>
            </a:pPr>
            <a:r>
              <a:rPr lang="en-IN" sz="2000" b="1" dirty="0"/>
              <a:t>ROUTE(view): </a:t>
            </a:r>
            <a:r>
              <a:rPr lang="en-IN" sz="2000" dirty="0"/>
              <a:t>The specific page or end points inside your web </a:t>
            </a:r>
            <a:r>
              <a:rPr lang="en-IN" sz="2000" dirty="0" err="1"/>
              <a:t>application,it</a:t>
            </a:r>
            <a:r>
              <a:rPr lang="en-IN" sz="2000" dirty="0"/>
              <a:t> decides which view function should handle the request.</a:t>
            </a:r>
          </a:p>
        </p:txBody>
      </p:sp>
      <p:pic>
        <p:nvPicPr>
          <p:cNvPr id="7" name="Content Placeholder 6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3E9DEAAB-8D6E-48BF-B932-A954296E3C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105" y="1496441"/>
            <a:ext cx="3938015" cy="4351338"/>
          </a:xfrm>
        </p:spPr>
      </p:pic>
    </p:spTree>
    <p:extLst>
      <p:ext uri="{BB962C8B-B14F-4D97-AF65-F5344CB8AC3E}">
        <p14:creationId xmlns:p14="http://schemas.microsoft.com/office/powerpoint/2010/main" val="3607412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4BA2-A141-B761-4C34-9BD4D53CA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Installation of Django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4A6AC-E94E-51A0-464D-9CA998808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8000" b="1" dirty="0"/>
              <a:t>Quick prerequisites</a:t>
            </a:r>
          </a:p>
          <a:p>
            <a:pPr marL="0" indent="0">
              <a:buNone/>
            </a:pPr>
            <a:r>
              <a:rPr lang="en-US" sz="8000" dirty="0"/>
              <a:t>        	1.install python 3.8+</a:t>
            </a:r>
          </a:p>
          <a:p>
            <a:pPr marL="0" indent="0">
              <a:buNone/>
            </a:pPr>
            <a:r>
              <a:rPr lang="en-US" sz="8000" dirty="0"/>
              <a:t>	2.make sure pip is install</a:t>
            </a:r>
          </a:p>
          <a:p>
            <a:r>
              <a:rPr lang="en-US" sz="8000" b="1" dirty="0"/>
              <a:t>create a project folder and open terminal</a:t>
            </a:r>
          </a:p>
          <a:p>
            <a:pPr marL="0" indent="0">
              <a:buNone/>
            </a:pPr>
            <a:r>
              <a:rPr lang="en-US" sz="8000" dirty="0"/>
              <a:t>	1.mkdir  project directory name</a:t>
            </a:r>
          </a:p>
          <a:p>
            <a:pPr marL="0" indent="0">
              <a:buNone/>
            </a:pPr>
            <a:r>
              <a:rPr lang="en-US" sz="8000" dirty="0"/>
              <a:t>	2.cd project directory name</a:t>
            </a:r>
          </a:p>
          <a:p>
            <a:r>
              <a:rPr lang="en-US" sz="8000" b="1" dirty="0"/>
              <a:t>Create and activate virtual env</a:t>
            </a:r>
          </a:p>
          <a:p>
            <a:pPr marL="0" indent="0">
              <a:buNone/>
            </a:pPr>
            <a:r>
              <a:rPr lang="en-US" sz="8000" dirty="0"/>
              <a:t>	1.python –m </a:t>
            </a:r>
            <a:r>
              <a:rPr lang="en-US" sz="8000" dirty="0" err="1"/>
              <a:t>venv</a:t>
            </a:r>
            <a:r>
              <a:rPr lang="en-US" sz="8000" dirty="0"/>
              <a:t> </a:t>
            </a:r>
            <a:r>
              <a:rPr lang="en-US" sz="8000" dirty="0" err="1"/>
              <a:t>emn</a:t>
            </a:r>
            <a:endParaRPr lang="en-US" sz="8000" dirty="0"/>
          </a:p>
          <a:p>
            <a:pPr marL="0" indent="0">
              <a:buNone/>
            </a:pPr>
            <a:r>
              <a:rPr lang="en-US" sz="8000" dirty="0"/>
              <a:t>	2.\ </a:t>
            </a:r>
            <a:r>
              <a:rPr lang="en-US" sz="8000" dirty="0" err="1"/>
              <a:t>venv</a:t>
            </a:r>
            <a:r>
              <a:rPr lang="en-US" sz="8000" dirty="0"/>
              <a:t>\ Scripts\</a:t>
            </a:r>
            <a:r>
              <a:rPr lang="en-US" sz="8000" dirty="0" err="1"/>
              <a:t>Activet</a:t>
            </a:r>
            <a:endParaRPr lang="en-US" sz="8000" dirty="0"/>
          </a:p>
          <a:p>
            <a:r>
              <a:rPr lang="en-US" sz="8000" b="1" dirty="0"/>
              <a:t>Install Django</a:t>
            </a:r>
          </a:p>
          <a:p>
            <a:pPr marL="0" indent="0">
              <a:buNone/>
            </a:pPr>
            <a:r>
              <a:rPr lang="en-US" sz="8000" dirty="0"/>
              <a:t>	1.pip install Django</a:t>
            </a:r>
          </a:p>
          <a:p>
            <a:r>
              <a:rPr lang="en-US" sz="8000" b="1" dirty="0"/>
              <a:t>Create a New Django project</a:t>
            </a:r>
          </a:p>
          <a:p>
            <a:pPr marL="0" indent="0">
              <a:buNone/>
            </a:pPr>
            <a:r>
              <a:rPr lang="en-US" sz="8000" dirty="0"/>
              <a:t>	1.Django-admin </a:t>
            </a:r>
            <a:r>
              <a:rPr lang="en-US" sz="8000" dirty="0" err="1"/>
              <a:t>startproject</a:t>
            </a:r>
            <a:r>
              <a:rPr lang="en-US" sz="8000" dirty="0"/>
              <a:t> project-name</a:t>
            </a:r>
          </a:p>
          <a:p>
            <a:pPr marL="0" indent="0">
              <a:buNone/>
            </a:pPr>
            <a:r>
              <a:rPr lang="en-US" sz="8000" dirty="0"/>
              <a:t>	2. cd </a:t>
            </a:r>
            <a:r>
              <a:rPr lang="en-US" sz="8000" dirty="0" err="1"/>
              <a:t>projectname</a:t>
            </a:r>
            <a:endParaRPr lang="en-US" sz="8000" dirty="0"/>
          </a:p>
          <a:p>
            <a:r>
              <a:rPr lang="en-US" sz="8000" b="1" dirty="0"/>
              <a:t>Run the Django server</a:t>
            </a:r>
          </a:p>
          <a:p>
            <a:pPr marL="0" indent="0">
              <a:buNone/>
            </a:pPr>
            <a:r>
              <a:rPr lang="en-US" sz="8000" dirty="0"/>
              <a:t>	1.python manage.py </a:t>
            </a:r>
            <a:r>
              <a:rPr lang="en-US" sz="8000" dirty="0" err="1"/>
              <a:t>runserver</a:t>
            </a:r>
            <a:endParaRPr lang="en-US" sz="8000" dirty="0"/>
          </a:p>
          <a:p>
            <a:r>
              <a:rPr lang="en-US" sz="8000" b="1" dirty="0"/>
              <a:t>Optional Commands</a:t>
            </a:r>
          </a:p>
          <a:p>
            <a:pPr marL="0" indent="0">
              <a:buNone/>
            </a:pPr>
            <a:r>
              <a:rPr lang="en-US" sz="8000" dirty="0"/>
              <a:t>	1.Create a New </a:t>
            </a:r>
            <a:r>
              <a:rPr lang="en-US" sz="8000" dirty="0" err="1"/>
              <a:t>app:python</a:t>
            </a:r>
            <a:r>
              <a:rPr lang="en-US" sz="8000" dirty="0"/>
              <a:t> manage.py </a:t>
            </a:r>
            <a:r>
              <a:rPr lang="en-US" sz="8000" dirty="0" err="1"/>
              <a:t>startapp</a:t>
            </a:r>
            <a:r>
              <a:rPr lang="en-US" sz="8000" dirty="0"/>
              <a:t> </a:t>
            </a:r>
            <a:r>
              <a:rPr lang="en-US" sz="8000" dirty="0" err="1"/>
              <a:t>appname</a:t>
            </a:r>
            <a:endParaRPr lang="en-US" sz="8000" dirty="0"/>
          </a:p>
          <a:p>
            <a:pPr marL="0" indent="0">
              <a:buNone/>
            </a:pPr>
            <a:r>
              <a:rPr lang="en-US" sz="8000" dirty="0"/>
              <a:t>	2.Database </a:t>
            </a:r>
            <a:r>
              <a:rPr lang="en-US" sz="8000" dirty="0" err="1"/>
              <a:t>Migrations:python</a:t>
            </a:r>
            <a:r>
              <a:rPr lang="en-US" sz="8000" dirty="0"/>
              <a:t> manage.py migrate</a:t>
            </a:r>
          </a:p>
          <a:p>
            <a:pPr marL="0" indent="0">
              <a:buNone/>
            </a:pPr>
            <a:r>
              <a:rPr lang="en-US" sz="8000" dirty="0"/>
              <a:t>	3.Admin_user:python manage.py </a:t>
            </a:r>
            <a:r>
              <a:rPr lang="en-US" sz="8000" dirty="0" err="1"/>
              <a:t>createsuperuser</a:t>
            </a:r>
            <a:endParaRPr lang="en-US" sz="8000" dirty="0"/>
          </a:p>
          <a:p>
            <a:pPr marL="0" indent="0">
              <a:buNone/>
            </a:pPr>
            <a:endParaRPr lang="en-US" sz="8000" dirty="0"/>
          </a:p>
          <a:p>
            <a:endParaRPr lang="en-US" sz="8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5360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D48C-CB24-D039-60E9-28BC4739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Project Directory Structure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2479F-965A-3417-03D7-1A8E0A20B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Directory/</a:t>
            </a:r>
            <a:r>
              <a:rPr lang="en-US" dirty="0"/>
              <a:t>-----------------------Just a container for your project, Its name doesn’t matter to Django you can rename it to anything you like.</a:t>
            </a:r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lang="en-US" b="1" dirty="0"/>
              <a:t>Manage.py</a:t>
            </a:r>
            <a:r>
              <a:rPr lang="en-US" dirty="0"/>
              <a:t>-------------A command line utility that lets you interact with this Django Project in various ways</a:t>
            </a:r>
          </a:p>
          <a:p>
            <a:pPr marL="0" indent="0">
              <a:buNone/>
            </a:pPr>
            <a:r>
              <a:rPr lang="en-US" dirty="0"/>
              <a:t>               </a:t>
            </a:r>
            <a:r>
              <a:rPr lang="en-US" b="1" dirty="0"/>
              <a:t> Project name/</a:t>
            </a:r>
            <a:r>
              <a:rPr lang="en-US" dirty="0"/>
              <a:t>-------------Actual Python package for your project</a:t>
            </a:r>
          </a:p>
          <a:p>
            <a:pPr marL="0" indent="0">
              <a:buNone/>
            </a:pPr>
            <a:r>
              <a:rPr lang="en-US" dirty="0"/>
              <a:t>                  </a:t>
            </a:r>
            <a:r>
              <a:rPr lang="en-US" b="1" dirty="0"/>
              <a:t>               __init__.py_</a:t>
            </a:r>
            <a:r>
              <a:rPr lang="en-US" dirty="0"/>
              <a:t>------------A file required for python to treat Project directory as a project</a:t>
            </a:r>
          </a:p>
          <a:p>
            <a:pPr marL="0" indent="0">
              <a:buNone/>
            </a:pPr>
            <a:r>
              <a:rPr lang="en-US" dirty="0"/>
              <a:t>	             </a:t>
            </a:r>
            <a:r>
              <a:rPr lang="en-US" b="1" dirty="0"/>
              <a:t>Settings.py</a:t>
            </a:r>
            <a:r>
              <a:rPr lang="en-US" dirty="0"/>
              <a:t>---------Congiguration for Django project</a:t>
            </a:r>
          </a:p>
          <a:p>
            <a:pPr marL="0" indent="0">
              <a:buNone/>
            </a:pPr>
            <a:r>
              <a:rPr lang="en-US" dirty="0"/>
              <a:t>	              </a:t>
            </a:r>
            <a:r>
              <a:rPr lang="en-US" b="1" dirty="0"/>
              <a:t>Urls.py—</a:t>
            </a:r>
            <a:r>
              <a:rPr lang="en-US" dirty="0"/>
              <a:t>-----------Provided  mapping to views</a:t>
            </a:r>
          </a:p>
          <a:p>
            <a:pPr marL="0" indent="0">
              <a:buNone/>
            </a:pPr>
            <a:r>
              <a:rPr lang="en-US" dirty="0"/>
              <a:t>	             </a:t>
            </a:r>
            <a:r>
              <a:rPr lang="en-US" b="1" dirty="0"/>
              <a:t>Wsgi.py</a:t>
            </a:r>
            <a:r>
              <a:rPr lang="en-US" dirty="0"/>
              <a:t>—----------An entry point for wsgi compatible webservers to serve your project.</a:t>
            </a:r>
          </a:p>
          <a:p>
            <a:pPr marL="0" indent="0">
              <a:buNone/>
            </a:pPr>
            <a:r>
              <a:rPr lang="en-IN" dirty="0"/>
              <a:t>	             </a:t>
            </a:r>
            <a:r>
              <a:rPr lang="en-IN" b="1" dirty="0"/>
              <a:t>Templates/</a:t>
            </a:r>
            <a:r>
              <a:rPr lang="en-IN" dirty="0"/>
              <a:t>---------HTML files, renders based on views</a:t>
            </a:r>
          </a:p>
          <a:p>
            <a:pPr marL="0" indent="0">
              <a:buNone/>
            </a:pPr>
            <a:r>
              <a:rPr lang="en-IN" dirty="0"/>
              <a:t>	             </a:t>
            </a:r>
            <a:r>
              <a:rPr lang="en-IN" b="1" dirty="0"/>
              <a:t>Static/</a:t>
            </a:r>
            <a:r>
              <a:rPr lang="en-IN" dirty="0"/>
              <a:t>---------------CSS,JS files, Images etc, configurable in settings.py</a:t>
            </a:r>
          </a:p>
          <a:p>
            <a:pPr marL="0" indent="0">
              <a:buNone/>
            </a:pPr>
            <a:r>
              <a:rPr lang="en-IN" dirty="0"/>
              <a:t>                                     </a:t>
            </a:r>
            <a:r>
              <a:rPr lang="en-IN" b="1" dirty="0"/>
              <a:t>Project-app/</a:t>
            </a:r>
            <a:r>
              <a:rPr lang="en-IN" dirty="0"/>
              <a:t>---------------A small sub package in project</a:t>
            </a:r>
          </a:p>
          <a:p>
            <a:pPr marL="457200" lvl="1" indent="0">
              <a:buNone/>
            </a:pPr>
            <a:r>
              <a:rPr lang="en-IN" dirty="0"/>
              <a:t>	                           </a:t>
            </a:r>
            <a:r>
              <a:rPr lang="en-IN" b="1" dirty="0"/>
              <a:t>__init__.py</a:t>
            </a:r>
          </a:p>
          <a:p>
            <a:pPr marL="457200" lvl="1" indent="0">
              <a:buNone/>
            </a:pPr>
            <a:r>
              <a:rPr lang="en-IN" dirty="0"/>
              <a:t>	                           </a:t>
            </a:r>
            <a:r>
              <a:rPr lang="en-IN" b="1" dirty="0"/>
              <a:t>Urls.py/</a:t>
            </a:r>
          </a:p>
          <a:p>
            <a:pPr marL="457200" lvl="1" indent="0">
              <a:buNone/>
            </a:pPr>
            <a:r>
              <a:rPr lang="en-IN" dirty="0"/>
              <a:t>	                           </a:t>
            </a:r>
            <a:r>
              <a:rPr lang="en-IN" b="1" dirty="0"/>
              <a:t>Views.py</a:t>
            </a:r>
            <a:r>
              <a:rPr lang="en-IN" dirty="0"/>
              <a:t>-----------Responsible  for users request and </a:t>
            </a:r>
            <a:r>
              <a:rPr lang="en-IN" dirty="0" err="1"/>
              <a:t>greturn</a:t>
            </a:r>
            <a:r>
              <a:rPr lang="en-IN" dirty="0"/>
              <a:t> response</a:t>
            </a:r>
          </a:p>
          <a:p>
            <a:pPr marL="457200" lvl="1" indent="0">
              <a:buNone/>
            </a:pPr>
            <a:r>
              <a:rPr lang="en-IN" dirty="0"/>
              <a:t>	                          </a:t>
            </a:r>
            <a:r>
              <a:rPr lang="en-IN" b="1" dirty="0"/>
              <a:t>Models</a:t>
            </a:r>
            <a:r>
              <a:rPr lang="en-IN" dirty="0"/>
              <a:t>.</a:t>
            </a:r>
            <a:r>
              <a:rPr lang="en-IN" b="1" dirty="0"/>
              <a:t>py</a:t>
            </a:r>
            <a:r>
              <a:rPr lang="en-IN" dirty="0"/>
              <a:t>---------Definitive source of  information about data generally ,each model  maps to a </a:t>
            </a:r>
            <a:r>
              <a:rPr lang="en-IN" dirty="0" err="1"/>
              <a:t>singledatabase</a:t>
            </a:r>
            <a:r>
              <a:rPr lang="en-IN" dirty="0"/>
              <a:t> table</a:t>
            </a:r>
          </a:p>
          <a:p>
            <a:pPr marL="457200" lvl="1" indent="0">
              <a:buNone/>
            </a:pPr>
            <a:r>
              <a:rPr lang="en-IN" dirty="0"/>
              <a:t>	                         </a:t>
            </a:r>
            <a:r>
              <a:rPr lang="en-IN" b="1" dirty="0"/>
              <a:t>Admin.py</a:t>
            </a:r>
            <a:r>
              <a:rPr lang="en-IN" dirty="0"/>
              <a:t>----------It reads a </a:t>
            </a:r>
            <a:r>
              <a:rPr lang="en-IN" dirty="0" err="1"/>
              <a:t>ameta</a:t>
            </a:r>
            <a:r>
              <a:rPr lang="en-IN" dirty="0"/>
              <a:t> data in your model</a:t>
            </a:r>
          </a:p>
          <a:p>
            <a:pPr marL="457200" lvl="1" indent="0">
              <a:buNone/>
            </a:pPr>
            <a:r>
              <a:rPr lang="en-IN" dirty="0"/>
              <a:t>	                          </a:t>
            </a:r>
            <a:r>
              <a:rPr lang="en-IN" b="1" dirty="0"/>
              <a:t>Forms.py-</a:t>
            </a:r>
            <a:r>
              <a:rPr lang="en-IN" dirty="0"/>
              <a:t>---------To create and manipulate form data</a:t>
            </a:r>
          </a:p>
        </p:txBody>
      </p:sp>
    </p:spTree>
    <p:extLst>
      <p:ext uri="{BB962C8B-B14F-4D97-AF65-F5344CB8AC3E}">
        <p14:creationId xmlns:p14="http://schemas.microsoft.com/office/powerpoint/2010/main" val="3498727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DF6F3-DA2A-C2BE-AB15-5C178269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KEY FEATURES</a:t>
            </a:r>
            <a:endParaRPr lang="en-IN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F820A-4196-C390-9394-59A9F9173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MVT Architecture</a:t>
            </a:r>
          </a:p>
          <a:p>
            <a:r>
              <a:rPr lang="en-US" b="1" dirty="0"/>
              <a:t>Built in admin interface</a:t>
            </a:r>
          </a:p>
          <a:p>
            <a:r>
              <a:rPr lang="en-US" b="1" dirty="0"/>
              <a:t>ORM(Object relational mapper)</a:t>
            </a:r>
          </a:p>
          <a:p>
            <a:r>
              <a:rPr lang="en-US" b="1" dirty="0"/>
              <a:t>High security</a:t>
            </a:r>
          </a:p>
          <a:p>
            <a:r>
              <a:rPr lang="en-US" b="1" dirty="0"/>
              <a:t>Rapid development</a:t>
            </a:r>
          </a:p>
          <a:p>
            <a:r>
              <a:rPr lang="en-US" b="1" dirty="0"/>
              <a:t>Reusable and module code</a:t>
            </a:r>
          </a:p>
          <a:p>
            <a:r>
              <a:rPr lang="en-US" b="1" dirty="0"/>
              <a:t>Cross platform and opensource</a:t>
            </a:r>
          </a:p>
          <a:p>
            <a:r>
              <a:rPr lang="en-US" b="1" dirty="0"/>
              <a:t>Built on authentication system</a:t>
            </a:r>
          </a:p>
          <a:p>
            <a:r>
              <a:rPr lang="en-US" b="1" dirty="0"/>
              <a:t>URL routing system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503276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68BD-01DD-E9EA-C515-482B43B6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diagram of a company&#10;&#10;AI-generated content may be incorrect.">
            <a:extLst>
              <a:ext uri="{FF2B5EF4-FFF2-40B4-BE49-F238E27FC236}">
                <a16:creationId xmlns:a16="http://schemas.microsoft.com/office/drawing/2014/main" id="{8314B129-6E2E-39AC-5F09-5D07BDC63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9809003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99C7-8A6D-737B-3899-C94ECCF1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TODO WEB APPLICATION</a:t>
            </a:r>
            <a:endParaRPr lang="en-IN" b="1" dirty="0"/>
          </a:p>
        </p:txBody>
      </p:sp>
      <p:pic>
        <p:nvPicPr>
          <p:cNvPr id="5" name="Content Placeholder 4" descr="A screenshot of a to do list&#10;&#10;AI-generated content may be incorrect.">
            <a:extLst>
              <a:ext uri="{FF2B5EF4-FFF2-40B4-BE49-F238E27FC236}">
                <a16:creationId xmlns:a16="http://schemas.microsoft.com/office/drawing/2014/main" id="{D0EC252B-4020-BCA7-92B0-8DB740E6A8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74769"/>
            <a:ext cx="5181600" cy="3453050"/>
          </a:xfrm>
        </p:spPr>
      </p:pic>
      <p:pic>
        <p:nvPicPr>
          <p:cNvPr id="8" name="Content Placeholder 7" descr="A diagram of a project&#10;&#10;AI-generated content may be incorrect.">
            <a:extLst>
              <a:ext uri="{FF2B5EF4-FFF2-40B4-BE49-F238E27FC236}">
                <a16:creationId xmlns:a16="http://schemas.microsoft.com/office/drawing/2014/main" id="{0EC2250A-9532-DF45-F100-DD7B9E0640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74094"/>
            <a:ext cx="5181600" cy="3454400"/>
          </a:xfrm>
        </p:spPr>
      </p:pic>
    </p:spTree>
    <p:extLst>
      <p:ext uri="{BB962C8B-B14F-4D97-AF65-F5344CB8AC3E}">
        <p14:creationId xmlns:p14="http://schemas.microsoft.com/office/powerpoint/2010/main" val="40103816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BEC845-D77F-0481-6686-A6B8B128D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 FLOW </a:t>
            </a:r>
            <a:endParaRPr lang="en-IN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DCE8AE-F45F-EE6C-4C9E-EA76FBDDC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28928"/>
            <a:ext cx="7523923" cy="823913"/>
          </a:xfrm>
        </p:spPr>
        <p:txBody>
          <a:bodyPr/>
          <a:lstStyle/>
          <a:p>
            <a:r>
              <a:rPr lang="en-US" dirty="0"/>
              <a:t>Simple TODO project Application</a:t>
            </a:r>
            <a:endParaRPr lang="en-IN" dirty="0"/>
          </a:p>
        </p:txBody>
      </p:sp>
      <p:pic>
        <p:nvPicPr>
          <p:cNvPr id="10" name="Content Placeholder 9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BE044313-EF0F-3DE0-5996-0C17A7CDBF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628107"/>
            <a:ext cx="8560244" cy="3438524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FAE4D22-0F5B-C0BE-6E62-191A8C11F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A9712-43F4-1D98-7D18-E2C46A14830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979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5E07E-7BAD-AEB4-B012-584C1538C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</a:t>
            </a:r>
            <a:r>
              <a:rPr lang="en-US" sz="6000" b="1" dirty="0"/>
              <a:t>CAREER PATH</a:t>
            </a:r>
            <a:endParaRPr lang="en-IN" sz="6000" b="1" dirty="0"/>
          </a:p>
        </p:txBody>
      </p:sp>
      <p:pic>
        <p:nvPicPr>
          <p:cNvPr id="9" name="Content Placeholder 8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515D4594-68F0-7153-DB21-BC3FCDCA7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27" y="1690688"/>
            <a:ext cx="11336693" cy="4975583"/>
          </a:xfrm>
        </p:spPr>
      </p:pic>
    </p:spTree>
    <p:extLst>
      <p:ext uri="{BB962C8B-B14F-4D97-AF65-F5344CB8AC3E}">
        <p14:creationId xmlns:p14="http://schemas.microsoft.com/office/powerpoint/2010/main" val="1816145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8EEE8A-E33A-766B-40F6-17FACCB6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27930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9F1D96"/>
                </a:solidFill>
              </a:rPr>
              <a:t>JOB ROLES</a:t>
            </a:r>
            <a:endParaRPr lang="en-IN" b="1" dirty="0">
              <a:solidFill>
                <a:srgbClr val="9F1D96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049B0C-7BB3-ED9D-00E4-7231E76EA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81163"/>
            <a:ext cx="5157787" cy="450850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Python developer</a:t>
            </a:r>
            <a:r>
              <a:rPr lang="en-US" dirty="0"/>
              <a:t>: As a Django- developer, Here job is to program applications for clients using the Django framework for the python programming language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Backend developer</a:t>
            </a:r>
            <a:r>
              <a:rPr lang="en-US" dirty="0"/>
              <a:t> : In the case of mobile apps we would simply suggest that Django for the backend part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Full stack developer</a:t>
            </a:r>
            <a:r>
              <a:rPr lang="en-US" dirty="0"/>
              <a:t>: A full stack developer with a focus on Django typically works with both frontend and backend technologies ,utilizing the Django framework for the backend.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A42F42F-CDC2-F542-D6B4-27B0C6865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04865"/>
            <a:ext cx="5183188" cy="4584798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Application developer</a:t>
            </a:r>
            <a:r>
              <a:rPr lang="en-US" dirty="0"/>
              <a:t>: in the con text of Django typically focus on development of specific application or modules with in a longer web application.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Machine learning engineers</a:t>
            </a:r>
            <a:r>
              <a:rPr lang="en-US" dirty="0"/>
              <a:t>:</a:t>
            </a:r>
            <a:r>
              <a:rPr lang="en-IN" dirty="0"/>
              <a:t>In Django web development projects they integrate with machine learning functionalities in to the Django frameworks.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Data scientist</a:t>
            </a:r>
            <a:r>
              <a:rPr lang="en-IN" dirty="0"/>
              <a:t>: Django is a high level python web framework that encourages rapid development and clean, pragmatic design.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259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E8358-C9DC-4721-BD0C-78923912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" y="409582"/>
            <a:ext cx="11567160" cy="132556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SALARIES /PACKAGES  DETAILS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D9321-4144-BD48-1C61-860DEBA0C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</a:t>
            </a:r>
            <a:endParaRPr lang="en-IN" dirty="0"/>
          </a:p>
        </p:txBody>
      </p:sp>
      <p:pic>
        <p:nvPicPr>
          <p:cNvPr id="8" name="Content Placeholder 7" descr="A graph of a salary&#10;&#10;AI-generated content may be incorrect.">
            <a:extLst>
              <a:ext uri="{FF2B5EF4-FFF2-40B4-BE49-F238E27FC236}">
                <a16:creationId xmlns:a16="http://schemas.microsoft.com/office/drawing/2014/main" id="{E94118B9-3828-AB6D-5FBE-74D1C434E9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719373"/>
            <a:ext cx="5157787" cy="3255991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DD0D5E-8450-8752-6E17-F86A4BE79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ABROAD</a:t>
            </a:r>
            <a:endParaRPr lang="en-IN" dirty="0"/>
          </a:p>
        </p:txBody>
      </p:sp>
      <p:pic>
        <p:nvPicPr>
          <p:cNvPr id="10" name="Content Placeholder 9" descr="A graph of salary and salary&#10;&#10;AI-generated content may be incorrect.">
            <a:extLst>
              <a:ext uri="{FF2B5EF4-FFF2-40B4-BE49-F238E27FC236}">
                <a16:creationId xmlns:a16="http://schemas.microsoft.com/office/drawing/2014/main" id="{15A073D8-C513-DB2E-09E4-9A9DFE9175E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75" y="2505075"/>
            <a:ext cx="6194425" cy="3684588"/>
          </a:xfrm>
        </p:spPr>
      </p:pic>
    </p:spTree>
    <p:extLst>
      <p:ext uri="{BB962C8B-B14F-4D97-AF65-F5344CB8AC3E}">
        <p14:creationId xmlns:p14="http://schemas.microsoft.com/office/powerpoint/2010/main" val="2985722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07681B-3865-91FC-8478-5BE5C79A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                      HIRING GROWTH RATE</a:t>
            </a:r>
            <a:endParaRPr lang="en-IN" dirty="0">
              <a:solidFill>
                <a:srgbClr val="00B050"/>
              </a:solidFill>
            </a:endParaRPr>
          </a:p>
        </p:txBody>
      </p:sp>
      <p:pic>
        <p:nvPicPr>
          <p:cNvPr id="5" name="Content Placeholder 4" descr="A graph of growth of a company&#10;&#10;AI-generated content may be incorrect.">
            <a:extLst>
              <a:ext uri="{FF2B5EF4-FFF2-40B4-BE49-F238E27FC236}">
                <a16:creationId xmlns:a16="http://schemas.microsoft.com/office/drawing/2014/main" id="{8DEE41EB-1587-3432-EF1B-D14F1EFB2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221" y="1825625"/>
            <a:ext cx="6529557" cy="435133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294487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33FA79-F1ED-53E6-3B21-9C32A3181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HIRING COMPANIES</a:t>
            </a:r>
            <a:endParaRPr lang="en-IN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0C693EC-B71F-F8E2-2873-2A0A91B23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390650"/>
            <a:ext cx="5157787" cy="479901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following organizing and companies use Django for high scale applications often for their backend services , internal tools and content management systems.</a:t>
            </a:r>
          </a:p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b="1" dirty="0"/>
              <a:t>Instagram</a:t>
            </a:r>
          </a:p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b="1" dirty="0"/>
              <a:t>YouTube</a:t>
            </a:r>
          </a:p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b="1" dirty="0"/>
              <a:t>Spotify</a:t>
            </a:r>
          </a:p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b="1" dirty="0"/>
              <a:t>Pinterest</a:t>
            </a:r>
          </a:p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b="1" dirty="0"/>
              <a:t>Mozilla</a:t>
            </a:r>
          </a:p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b="1" dirty="0"/>
              <a:t>Dropbox</a:t>
            </a:r>
          </a:p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b="1" dirty="0"/>
              <a:t>Bitbucket</a:t>
            </a:r>
          </a:p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b="1" dirty="0"/>
              <a:t>Udemy</a:t>
            </a:r>
          </a:p>
        </p:txBody>
      </p:sp>
      <p:pic>
        <p:nvPicPr>
          <p:cNvPr id="16" name="Content Placeholder 15" descr="A group of logos on a white background&#10;&#10;AI-generated content may be incorrect.">
            <a:extLst>
              <a:ext uri="{FF2B5EF4-FFF2-40B4-BE49-F238E27FC236}">
                <a16:creationId xmlns:a16="http://schemas.microsoft.com/office/drawing/2014/main" id="{9AB403D1-780E-DCB9-513C-E2989D0C8D2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68129"/>
            <a:ext cx="5183188" cy="4321534"/>
          </a:xfrm>
        </p:spPr>
      </p:pic>
    </p:spTree>
    <p:extLst>
      <p:ext uri="{BB962C8B-B14F-4D97-AF65-F5344CB8AC3E}">
        <p14:creationId xmlns:p14="http://schemas.microsoft.com/office/powerpoint/2010/main" val="29377425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8BEFAC-6AE6-080C-0AE0-21A1BE84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REFERENCES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8C7EF7-FAF9-FC58-BFEF-38B07E3CA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err="1"/>
              <a:t>Oficial</a:t>
            </a:r>
            <a:r>
              <a:rPr lang="en-US" dirty="0"/>
              <a:t> Django     </a:t>
            </a:r>
            <a:r>
              <a:rPr lang="en-US" dirty="0" err="1"/>
              <a:t>documentation:https</a:t>
            </a:r>
            <a:r>
              <a:rPr lang="en-US" dirty="0"/>
              <a:t>://www.Djangoproject.com//start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W3school</a:t>
            </a:r>
            <a:endParaRPr lang="en-IN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</a:t>
            </a:r>
            <a:r>
              <a:rPr lang="en-IN" dirty="0" err="1"/>
              <a:t>GeeksforGeeks</a:t>
            </a:r>
            <a:endParaRPr lang="en-IN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YouTube channels: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Dave Gray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Programming with Mosh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9F1D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75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75A23D-45D3-5279-3193-0C4044C5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8DFA98-5825-54E2-6C75-4CCCC9706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298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Django is a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Powerfull,Open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-source </a:t>
            </a:r>
            <a:r>
              <a:rPr lang="en-US" dirty="0"/>
              <a:t>web framework written in python that simplifies the process of building secure,scalable,and maintainable web apllications.it follows the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MODEL,VIEW and TEMPLATE(MVT)architecture</a:t>
            </a:r>
            <a:r>
              <a:rPr lang="en-US" dirty="0"/>
              <a:t>, promoting clean and reusable code. With its built-in feature like authentication, ORM, admin interface and security protection. Django allows developers to focus on application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Logic</a:t>
            </a:r>
            <a:r>
              <a:rPr lang="en-US" dirty="0"/>
              <a:t> rather them repetitive tasks.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37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07083-120D-59FD-4972-AC6E0647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 descr="A thank you sign with a person pointing at it&#10;&#10;AI-generated content may be incorrect.">
            <a:extLst>
              <a:ext uri="{FF2B5EF4-FFF2-40B4-BE49-F238E27FC236}">
                <a16:creationId xmlns:a16="http://schemas.microsoft.com/office/drawing/2014/main" id="{76A39BE4-FFBE-F7DA-C828-4DEEA092D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987" y="0"/>
            <a:ext cx="12658330" cy="7226710"/>
          </a:xfrm>
          <a:ln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893904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1572</Words>
  <Application>Microsoft Office PowerPoint</Application>
  <PresentationFormat>Widescreen</PresentationFormat>
  <Paragraphs>189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KRISHNA CHAITHANYA INSTITUTE OF TECHNOLOGY AND SCIENCES                       (Approved by AICTE,new Delhi &amp; Affiliated to JNTU Kakinada)</vt:lpstr>
      <vt:lpstr> TABLE OF CONTENT</vt:lpstr>
      <vt:lpstr>What Does “Django” means?</vt:lpstr>
      <vt:lpstr>                                    Why  “Django”?</vt:lpstr>
      <vt:lpstr>HISTORY</vt:lpstr>
      <vt:lpstr>INTRODUCTION</vt:lpstr>
      <vt:lpstr>MCT and MVT Patterns</vt:lpstr>
      <vt:lpstr>EXAMPLE DIFFERENCE BETWEEN MVT AND MCT</vt:lpstr>
      <vt:lpstr>PowerPoint Presentation</vt:lpstr>
      <vt:lpstr>                               WORKFLOW</vt:lpstr>
      <vt:lpstr>Installation of Django</vt:lpstr>
      <vt:lpstr>Project Directory Structure</vt:lpstr>
      <vt:lpstr>KEY FEATURES</vt:lpstr>
      <vt:lpstr>PowerPoint Presentation</vt:lpstr>
      <vt:lpstr>TODO WEB APPLICATION</vt:lpstr>
      <vt:lpstr>WORK FLOW </vt:lpstr>
      <vt:lpstr>                          CAREER PATH</vt:lpstr>
      <vt:lpstr>JOB ROLES</vt:lpstr>
      <vt:lpstr>SALARIES /PACKAGES  DETAILS</vt:lpstr>
      <vt:lpstr>                      HIRING GROWTH RATE</vt:lpstr>
      <vt:lpstr>HIRING COMPANIES</vt:lpstr>
      <vt:lpstr>                             REFERENCES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YASHODA BANDA</dc:creator>
  <cp:lastModifiedBy>YASHODA BANDA</cp:lastModifiedBy>
  <cp:revision>2</cp:revision>
  <dcterms:created xsi:type="dcterms:W3CDTF">2025-10-21T12:36:20Z</dcterms:created>
  <dcterms:modified xsi:type="dcterms:W3CDTF">2025-10-27T14:36:35Z</dcterms:modified>
</cp:coreProperties>
</file>